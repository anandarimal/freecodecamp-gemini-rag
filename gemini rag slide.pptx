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2" r:id="rId2"/>
    <p:sldId id="326" r:id="rId3"/>
    <p:sldId id="323" r:id="rId4"/>
    <p:sldId id="324" r:id="rId5"/>
    <p:sldId id="325" r:id="rId6"/>
    <p:sldId id="327" r:id="rId7"/>
    <p:sldId id="328" r:id="rId8"/>
    <p:sldId id="329" r:id="rId9"/>
    <p:sldId id="331" r:id="rId10"/>
    <p:sldId id="33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2T16:16:1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0 268 0 0 0,'3'-5'632'0'0,"112"-193"1280"0"0,-103 177-1849 0 0,-10 18-58 0 0,12-14-114 0 0,-11 14-66 0 0,-4-1-1031 0 0,-1-12 410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2T16:18:29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2820 1312 0 0 0,'-18'-49'1028'0'0,"-87"-209"1216"0"0,74 190-1864 0 0,16 34-172 0 0,-1 0 1 0 0,-34-50-1 0 0,50 83-204 0 0,-1 0 0 0 0,0 0 0 0 0,1 0 0 0 0,-1 0 0 0 0,0-1 1 0 0,0 1-1 0 0,0 1 0 0 0,0-1 0 0 0,0 0 0 0 0,0 0 0 0 0,0 0 0 0 0,0 0 0 0 0,-1 1 0 0 0,1-1 0 0 0,0 1 0 0 0,0-1 0 0 0,-1 1 0 0 0,0-1 0 0 0,1 1 0 0 0,-1-1 0 0 0,1 1-1 0 0,0-1 1 0 0,1 1-1 0 0,-1 0 1 0 0,0-1 0 0 0,0 0-1 0 0,0 1 1 0 0,0-1-1 0 0,0 1 1 0 0,0-1 0 0 0,1 0-1 0 0,-1 0 1 0 0,0 0-1 0 0,1 1 1 0 0,-1-1 0 0 0,0 0-1 0 0,1 0 1 0 0,-1 0-1 0 0,1 0 1 0 0,-1 0 0 0 0,1 0-1 0 0,-1-1 1 0 0,-12-21 39 0 0,-2 0 0 0 0,-1 2 0 0 0,0 0 0 0 0,-1 0 0 0 0,-28-23 0 0 0,-13-17 65 0 0,17 18-78 0 0,0 1-1 0 0,-3 3 0 0 0,-1 1 0 0 0,-2 3 0 0 0,-2 2 0 0 0,-1 1 1 0 0,-60-27-1 0 0,14 15-18 0 0,-1 4 1 0 0,-202-54-1 0 0,246 82-45 0 0,5 4 10 0 0,-2 1 4 0 0,-29-1 14 0 0,77 7 6 0 0,0 1-1 0 0,0-1 0 0 0,-1 1 1 0 0,1 0-1 0 0,0 0 0 0 0,0 0 1 0 0,0 0-1 0 0,0 0 0 0 0,-1 0 1 0 0,1 1-1 0 0,0-1 0 0 0,0 1 1 0 0,-2 0-1 0 0,1 0 0 0 0,0 0 0 0 0,0 0 0 0 0,0 0 0 0 0,0 0 0 0 0,0-1 0 0 0,0 1 0 0 0,-1-1 0 0 0,-3 0 0 0 0,-46 3-6 0 0,-1 0-65 0 0,0 3 0 0 0,1 3 0 0 0,-65 18 0 0 0,79-15-3 0 0,0 1 0 0 0,2 2 0 0 0,-1 2 0 0 0,2 1 0 0 0,-40 27 0 0 0,50-29 18 0 0,1 2 1 0 0,1 1-1 0 0,0 0 0 0 0,1 2 1 0 0,2 1-1 0 0,0 0 1 0 0,1 2-1 0 0,-24 38 0 0 0,-90 195-274 0 0,23-39 80 0 0,97-191 207 0 0,1 0 0 0 0,1 1-1 0 0,2 0 1 0 0,-12 49 0 0 0,18-58-189 0 0,0 0 0 0 0,2 0 0 0 0,1 1 0 0 0,0-1 0 0 0,1 0 0 0 0,1 1 0 0 0,1-1 1 0 0,6 26-1 0 0,-1-22-260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2T16:18:31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 0 0,'5'1'558'0'0,"14"4"-226"0"0,-15-4 437 0 0,2 1-576 0 0,19 3-19 0 0,-19-4-16 0 0,1 0-14 0 0,156 25 791 0 0,-1 7-531 0 0,-100-18-286 0 0,47 15 26 0 0,92 15 50 0 0,-50-17-116 0 0,-145-27-71 0 0,83 1-1 0 0,-82-2-31 0 0,19-2 29 0 0,-19 2-19 0 0,72 0-827 0 0,-72 0 542 0 0,-2 2-127 0 0,16 6-188 0 0,-16-6-219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340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8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21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54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3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7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4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2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01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426CB4E-552C-407F-A92F-7C319EC0AF5B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11EDF4B-00F5-43D1-9CBC-EB1FF82064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863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dev/gemini-api/docs/models#gemini-2.5-pro" TargetMode="External"/><Relationship Id="rId2" Type="http://schemas.openxmlformats.org/officeDocument/2006/relationships/hyperlink" Target="https://ai.google.dev/gemini-api/docs/models#gemini-3-pro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i.google.dev/gemini-api/docs/models#gemini-2.5-flash-lite" TargetMode="External"/><Relationship Id="rId4" Type="http://schemas.openxmlformats.org/officeDocument/2006/relationships/hyperlink" Target="https://ai.google.dev/gemini-api/docs/models#gemini-2.5-flash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dev/gemini-api/docs/tokens" TargetMode="External"/><Relationship Id="rId2" Type="http://schemas.openxmlformats.org/officeDocument/2006/relationships/hyperlink" Target="https://ai.google.dev/gemini-api/docs/pricing#gemini-embedding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587AEA-C013-5F9A-CCAB-01B617A08AF8}"/>
              </a:ext>
            </a:extLst>
          </p:cNvPr>
          <p:cNvSpPr txBox="1"/>
          <p:nvPr/>
        </p:nvSpPr>
        <p:spPr>
          <a:xfrm>
            <a:off x="3247052" y="419878"/>
            <a:ext cx="8826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Gemini File Search (RAG) 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F0C39B4-4EB6-E35D-CF4B-A8546FD16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610" y="1269317"/>
            <a:ext cx="4898460" cy="2761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08C00E-C8E5-3EC4-0515-CD933A8231D7}"/>
              </a:ext>
            </a:extLst>
          </p:cNvPr>
          <p:cNvSpPr txBox="1"/>
          <p:nvPr/>
        </p:nvSpPr>
        <p:spPr>
          <a:xfrm>
            <a:off x="2325411" y="4497355"/>
            <a:ext cx="6204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FFFF00"/>
                </a:highlight>
              </a:rPr>
              <a:t>Presented by :Ananda Rimal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8ED4F-107D-42A7-11DB-3CB1CEFEE993}"/>
              </a:ext>
            </a:extLst>
          </p:cNvPr>
          <p:cNvSpPr txBox="1"/>
          <p:nvPr/>
        </p:nvSpPr>
        <p:spPr>
          <a:xfrm>
            <a:off x="3097763" y="5225496"/>
            <a:ext cx="4396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FFFF00"/>
                </a:highlight>
              </a:rPr>
              <a:t>Collab with </a:t>
            </a:r>
            <a:r>
              <a:rPr lang="en-US" sz="2800" dirty="0" err="1">
                <a:highlight>
                  <a:srgbClr val="FFFF00"/>
                </a:highlight>
              </a:rPr>
              <a:t>freecodecamp</a:t>
            </a:r>
            <a:endParaRPr lang="en-US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825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3F5526-3C16-B73B-7C5E-91D9F8AADCD6}"/>
              </a:ext>
            </a:extLst>
          </p:cNvPr>
          <p:cNvSpPr txBox="1"/>
          <p:nvPr/>
        </p:nvSpPr>
        <p:spPr>
          <a:xfrm>
            <a:off x="4347563" y="278344"/>
            <a:ext cx="132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highlight>
                  <a:srgbClr val="FFFF00"/>
                </a:highlight>
              </a:rPr>
              <a:t>RAG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03893C-CC2D-0AFB-ACC6-3E4E9AC5BA80}"/>
              </a:ext>
            </a:extLst>
          </p:cNvPr>
          <p:cNvSpPr/>
          <p:nvPr/>
        </p:nvSpPr>
        <p:spPr>
          <a:xfrm>
            <a:off x="7968342" y="794047"/>
            <a:ext cx="2304661" cy="151994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2D488-6294-6A8D-B87E-177B438B8CA6}"/>
              </a:ext>
            </a:extLst>
          </p:cNvPr>
          <p:cNvSpPr txBox="1"/>
          <p:nvPr/>
        </p:nvSpPr>
        <p:spPr>
          <a:xfrm>
            <a:off x="8322906" y="1324947"/>
            <a:ext cx="1436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AI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31B1E-B7E7-D562-3110-E9CD250FEA70}"/>
              </a:ext>
            </a:extLst>
          </p:cNvPr>
          <p:cNvSpPr txBox="1"/>
          <p:nvPr/>
        </p:nvSpPr>
        <p:spPr>
          <a:xfrm>
            <a:off x="10907486" y="1324947"/>
            <a:ext cx="104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Chatgpt</a:t>
            </a:r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0828E4-5783-D400-483E-7CBACF9FFAD1}"/>
              </a:ext>
            </a:extLst>
          </p:cNvPr>
          <p:cNvCxnSpPr>
            <a:stCxn id="10" idx="3"/>
          </p:cNvCxnSpPr>
          <p:nvPr/>
        </p:nvCxnSpPr>
        <p:spPr>
          <a:xfrm flipV="1">
            <a:off x="10273003" y="1539551"/>
            <a:ext cx="802434" cy="14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631421-1F5A-67A8-3872-A0D8934B9182}"/>
              </a:ext>
            </a:extLst>
          </p:cNvPr>
          <p:cNvSpPr/>
          <p:nvPr/>
        </p:nvSpPr>
        <p:spPr>
          <a:xfrm>
            <a:off x="8210939" y="3429000"/>
            <a:ext cx="1623526" cy="8537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AFD7F-047D-7CDA-C8FF-96CC66E269F5}"/>
              </a:ext>
            </a:extLst>
          </p:cNvPr>
          <p:cNvSpPr txBox="1"/>
          <p:nvPr/>
        </p:nvSpPr>
        <p:spPr>
          <a:xfrm>
            <a:off x="8551505" y="3722914"/>
            <a:ext cx="97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Users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68B4EC-E3A6-787C-8290-055D03FE2206}"/>
              </a:ext>
            </a:extLst>
          </p:cNvPr>
          <p:cNvCxnSpPr/>
          <p:nvPr/>
        </p:nvCxnSpPr>
        <p:spPr>
          <a:xfrm flipV="1">
            <a:off x="8864082" y="2313992"/>
            <a:ext cx="0" cy="111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DABF1A-8BAF-CD0F-9682-CFD86BC9030B}"/>
              </a:ext>
            </a:extLst>
          </p:cNvPr>
          <p:cNvSpPr txBox="1"/>
          <p:nvPr/>
        </p:nvSpPr>
        <p:spPr>
          <a:xfrm>
            <a:off x="8322906" y="2733869"/>
            <a:ext cx="54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E18A81-BC27-5341-838D-CD51B5959E1B}"/>
              </a:ext>
            </a:extLst>
          </p:cNvPr>
          <p:cNvSpPr/>
          <p:nvPr/>
        </p:nvSpPr>
        <p:spPr>
          <a:xfrm>
            <a:off x="1810138" y="1808193"/>
            <a:ext cx="1334275" cy="129500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D0D80-96A5-8B53-D26E-2C0F44DD68E0}"/>
              </a:ext>
            </a:extLst>
          </p:cNvPr>
          <p:cNvSpPr txBox="1"/>
          <p:nvPr/>
        </p:nvSpPr>
        <p:spPr>
          <a:xfrm>
            <a:off x="1918996" y="2177525"/>
            <a:ext cx="1122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Company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0C7E2E-342D-803C-8033-44A0A9FBA706}"/>
              </a:ext>
            </a:extLst>
          </p:cNvPr>
          <p:cNvSpPr txBox="1"/>
          <p:nvPr/>
        </p:nvSpPr>
        <p:spPr>
          <a:xfrm>
            <a:off x="2096283" y="3244334"/>
            <a:ext cx="123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ABC</a:t>
            </a:r>
          </a:p>
        </p:txBody>
      </p:sp>
    </p:spTree>
    <p:extLst>
      <p:ext uri="{BB962C8B-B14F-4D97-AF65-F5344CB8AC3E}">
        <p14:creationId xmlns:p14="http://schemas.microsoft.com/office/powerpoint/2010/main" val="166872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002CA6BB-B628-F44E-135D-20F0F4CFB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0"/>
            <a:ext cx="11443023" cy="61488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F2BE6E-D8B9-7810-3316-3A9692505F86}"/>
              </a:ext>
            </a:extLst>
          </p:cNvPr>
          <p:cNvSpPr txBox="1"/>
          <p:nvPr/>
        </p:nvSpPr>
        <p:spPr>
          <a:xfrm>
            <a:off x="4273420" y="559837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Traditional Rag</a:t>
            </a:r>
          </a:p>
        </p:txBody>
      </p:sp>
    </p:spTree>
    <p:extLst>
      <p:ext uri="{BB962C8B-B14F-4D97-AF65-F5344CB8AC3E}">
        <p14:creationId xmlns:p14="http://schemas.microsoft.com/office/powerpoint/2010/main" val="41696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D11BCF-450D-7AD7-E7B6-821B7DDDB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" y="593885"/>
            <a:ext cx="11986727" cy="56702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6478D7-6169-8DE7-2275-EC5F77FDF84D}"/>
              </a:ext>
            </a:extLst>
          </p:cNvPr>
          <p:cNvSpPr txBox="1"/>
          <p:nvPr/>
        </p:nvSpPr>
        <p:spPr>
          <a:xfrm>
            <a:off x="1604865" y="167951"/>
            <a:ext cx="562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Gemini File Search Tool Architecture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5DF348-B5CC-F564-4FD6-A9B52C6B080F}"/>
                  </a:ext>
                </a:extLst>
              </p14:cNvPr>
              <p14:cNvContentPartPr/>
              <p14:nvPr/>
            </p14:nvContentPartPr>
            <p14:xfrm>
              <a:off x="1582648" y="2644670"/>
              <a:ext cx="53640" cy="9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5DF348-B5CC-F564-4FD6-A9B52C6B08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6528" y="2638550"/>
                <a:ext cx="658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3110463-EDDC-20C4-7534-D67E34D73C1D}"/>
                  </a:ext>
                </a:extLst>
              </p14:cNvPr>
              <p14:cNvContentPartPr/>
              <p14:nvPr/>
            </p14:nvContentPartPr>
            <p14:xfrm>
              <a:off x="7152568" y="2924390"/>
              <a:ext cx="1015560" cy="472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3110463-EDDC-20C4-7534-D67E34D73C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6448" y="2918270"/>
                <a:ext cx="102780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09331CD-865D-934F-688C-87D264D27ABB}"/>
                  </a:ext>
                </a:extLst>
              </p14:cNvPr>
              <p14:cNvContentPartPr/>
              <p14:nvPr/>
            </p14:nvContentPartPr>
            <p14:xfrm>
              <a:off x="5312968" y="3425510"/>
              <a:ext cx="422280" cy="74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09331CD-865D-934F-688C-87D264D27A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06848" y="3419390"/>
                <a:ext cx="434520" cy="8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189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0BDDC0-756E-9C5E-9E39-EEED38BC681D}"/>
              </a:ext>
            </a:extLst>
          </p:cNvPr>
          <p:cNvSpPr/>
          <p:nvPr/>
        </p:nvSpPr>
        <p:spPr>
          <a:xfrm>
            <a:off x="4842588" y="2090057"/>
            <a:ext cx="2009192" cy="105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8F444-4458-77D5-B3D1-1EE2AE698F0C}"/>
              </a:ext>
            </a:extLst>
          </p:cNvPr>
          <p:cNvSpPr/>
          <p:nvPr/>
        </p:nvSpPr>
        <p:spPr>
          <a:xfrm>
            <a:off x="7467599" y="2090057"/>
            <a:ext cx="2009192" cy="105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945EC8-23B0-44D9-DECB-C45E4DCD5030}"/>
              </a:ext>
            </a:extLst>
          </p:cNvPr>
          <p:cNvSpPr/>
          <p:nvPr/>
        </p:nvSpPr>
        <p:spPr>
          <a:xfrm>
            <a:off x="1869233" y="2090057"/>
            <a:ext cx="2009192" cy="105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16C6E-D1E9-0B87-952B-C3A40F753703}"/>
              </a:ext>
            </a:extLst>
          </p:cNvPr>
          <p:cNvSpPr/>
          <p:nvPr/>
        </p:nvSpPr>
        <p:spPr>
          <a:xfrm>
            <a:off x="4842588" y="166394"/>
            <a:ext cx="2009192" cy="105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13222-EA8E-AA58-CE03-63F38F967CB7}"/>
              </a:ext>
            </a:extLst>
          </p:cNvPr>
          <p:cNvSpPr/>
          <p:nvPr/>
        </p:nvSpPr>
        <p:spPr>
          <a:xfrm>
            <a:off x="2029408" y="301688"/>
            <a:ext cx="1688841" cy="783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68FB91-A815-4B61-3982-0B5F6BD963C3}"/>
              </a:ext>
            </a:extLst>
          </p:cNvPr>
          <p:cNvSpPr txBox="1"/>
          <p:nvPr/>
        </p:nvSpPr>
        <p:spPr>
          <a:xfrm>
            <a:off x="242596" y="384502"/>
            <a:ext cx="1626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F2730-2A76-7B7D-7A24-C12CA6C45301}"/>
              </a:ext>
            </a:extLst>
          </p:cNvPr>
          <p:cNvSpPr txBox="1"/>
          <p:nvPr/>
        </p:nvSpPr>
        <p:spPr>
          <a:xfrm>
            <a:off x="205273" y="2425959"/>
            <a:ext cx="144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EB2BD-0390-D951-3D1A-0601E7122C5B}"/>
              </a:ext>
            </a:extLst>
          </p:cNvPr>
          <p:cNvSpPr txBox="1"/>
          <p:nvPr/>
        </p:nvSpPr>
        <p:spPr>
          <a:xfrm>
            <a:off x="205273" y="4282751"/>
            <a:ext cx="1931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78DD0-C370-11B7-A583-90D34F39DA6B}"/>
              </a:ext>
            </a:extLst>
          </p:cNvPr>
          <p:cNvSpPr txBox="1"/>
          <p:nvPr/>
        </p:nvSpPr>
        <p:spPr>
          <a:xfrm>
            <a:off x="2341984" y="578498"/>
            <a:ext cx="886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993160-1E67-C5B4-B305-F43A198B0B61}"/>
              </a:ext>
            </a:extLst>
          </p:cNvPr>
          <p:cNvSpPr txBox="1"/>
          <p:nvPr/>
        </p:nvSpPr>
        <p:spPr>
          <a:xfrm>
            <a:off x="4951445" y="312966"/>
            <a:ext cx="1791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</a:rPr>
              <a:t>Uplaod</a:t>
            </a:r>
            <a:r>
              <a:rPr lang="en-US" dirty="0">
                <a:highlight>
                  <a:srgbClr val="FFFF00"/>
                </a:highlight>
              </a:rPr>
              <a:t> files through files </a:t>
            </a:r>
            <a:r>
              <a:rPr lang="en-US" dirty="0" err="1">
                <a:highlight>
                  <a:srgbClr val="FFFF00"/>
                </a:highlight>
              </a:rPr>
              <a:t>api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0B09E-DB59-40F0-7720-6350C5DC84EE}"/>
              </a:ext>
            </a:extLst>
          </p:cNvPr>
          <p:cNvSpPr txBox="1"/>
          <p:nvPr/>
        </p:nvSpPr>
        <p:spPr>
          <a:xfrm>
            <a:off x="5029200" y="2351314"/>
            <a:ext cx="1502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Vector store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B00FD-BF90-E970-1D8C-2402C1C74D89}"/>
              </a:ext>
            </a:extLst>
          </p:cNvPr>
          <p:cNvSpPr txBox="1"/>
          <p:nvPr/>
        </p:nvSpPr>
        <p:spPr>
          <a:xfrm>
            <a:off x="2136709" y="2425959"/>
            <a:ext cx="1581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Vector store 1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88FE2-5B27-8851-B0A0-D34BC4375543}"/>
              </a:ext>
            </a:extLst>
          </p:cNvPr>
          <p:cNvSpPr txBox="1"/>
          <p:nvPr/>
        </p:nvSpPr>
        <p:spPr>
          <a:xfrm>
            <a:off x="7651102" y="2351314"/>
            <a:ext cx="1595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Vector store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089972-A740-BCFD-51A8-9D79E94DB537}"/>
              </a:ext>
            </a:extLst>
          </p:cNvPr>
          <p:cNvSpPr txBox="1"/>
          <p:nvPr/>
        </p:nvSpPr>
        <p:spPr>
          <a:xfrm>
            <a:off x="9719388" y="2351314"/>
            <a:ext cx="2267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Creating Vector Store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F3806A-E867-7B59-DB72-4DE51E030F76}"/>
              </a:ext>
            </a:extLst>
          </p:cNvPr>
          <p:cNvSpPr txBox="1"/>
          <p:nvPr/>
        </p:nvSpPr>
        <p:spPr>
          <a:xfrm>
            <a:off x="2029408" y="4282751"/>
            <a:ext cx="6927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Importing files Into vector store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7D91F9-C9F9-A648-99B3-5EF2F45C1517}"/>
              </a:ext>
            </a:extLst>
          </p:cNvPr>
          <p:cNvSpPr txBox="1"/>
          <p:nvPr/>
        </p:nvSpPr>
        <p:spPr>
          <a:xfrm>
            <a:off x="102637" y="5402424"/>
            <a:ext cx="1138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Step4: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8F161C-09BF-B77B-625B-21CD8EF42CF6}"/>
              </a:ext>
            </a:extLst>
          </p:cNvPr>
          <p:cNvSpPr txBox="1"/>
          <p:nvPr/>
        </p:nvSpPr>
        <p:spPr>
          <a:xfrm>
            <a:off x="3867538" y="5255080"/>
            <a:ext cx="436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Indexing and chunking and storing vectors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71440A-9A10-05B9-33C5-4430BA42F1DE}"/>
              </a:ext>
            </a:extLst>
          </p:cNvPr>
          <p:cNvCxnSpPr>
            <a:stCxn id="9" idx="3"/>
            <a:endCxn id="8" idx="1"/>
          </p:cNvCxnSpPr>
          <p:nvPr/>
        </p:nvCxnSpPr>
        <p:spPr>
          <a:xfrm>
            <a:off x="3718249" y="693574"/>
            <a:ext cx="1124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E8CF4A1-6606-FB74-1C21-E5CE832B44E5}"/>
              </a:ext>
            </a:extLst>
          </p:cNvPr>
          <p:cNvSpPr txBox="1"/>
          <p:nvPr/>
        </p:nvSpPr>
        <p:spPr>
          <a:xfrm>
            <a:off x="7333861" y="384502"/>
            <a:ext cx="1800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 can upload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154883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9F7D6E-4150-DB6A-2C58-16B1066C4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" t="42316" r="38096" b="-5396"/>
          <a:stretch/>
        </p:blipFill>
        <p:spPr>
          <a:xfrm>
            <a:off x="402187" y="374972"/>
            <a:ext cx="10473151" cy="1568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D91FED-EA3C-80EE-897C-1AAB3B60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20"/>
          <a:stretch/>
        </p:blipFill>
        <p:spPr>
          <a:xfrm>
            <a:off x="1489587" y="1844639"/>
            <a:ext cx="7887801" cy="608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CC611-1297-A2E9-162B-6F3004E41377}"/>
              </a:ext>
            </a:extLst>
          </p:cNvPr>
          <p:cNvSpPr txBox="1"/>
          <p:nvPr/>
        </p:nvSpPr>
        <p:spPr>
          <a:xfrm>
            <a:off x="4432041" y="2839564"/>
            <a:ext cx="17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But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A00A9-3139-B28F-A912-7A81EC692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4" r="19648" b="10764"/>
          <a:stretch/>
        </p:blipFill>
        <p:spPr>
          <a:xfrm>
            <a:off x="402187" y="3429000"/>
            <a:ext cx="11384892" cy="940883"/>
          </a:xfrm>
          <a:prstGeom prst="rect">
            <a:avLst/>
          </a:prstGeom>
        </p:spPr>
      </p:pic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1C1412D-E00D-68F6-F6D4-F21F5BB41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9" r="14253" b="64003"/>
          <a:stretch/>
        </p:blipFill>
        <p:spPr>
          <a:xfrm>
            <a:off x="1990455" y="4447953"/>
            <a:ext cx="6886066" cy="49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3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7C9A721-36F6-A1CF-BC2D-670E27D31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3158" y="0"/>
            <a:ext cx="5374433" cy="3174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Supported models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The following models support File Search: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85ABC"/>
                </a:solidFill>
                <a:effectLst/>
                <a:latin typeface="Google Sans Mono"/>
                <a:hlinkClick r:id="rId2"/>
              </a:rPr>
              <a:t>gemini-3-pro-preview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85ABC"/>
                </a:solidFill>
                <a:effectLst/>
                <a:latin typeface="Google Sans Mono"/>
                <a:hlinkClick r:id="rId3"/>
              </a:rPr>
              <a:t>gemini-2.5-pro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85ABC"/>
                </a:solidFill>
                <a:effectLst/>
                <a:latin typeface="Google Sans Mono"/>
                <a:hlinkClick r:id="rId4"/>
              </a:rPr>
              <a:t>gemini-2.5-flash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 and its preview versions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85ABC"/>
                </a:solidFill>
                <a:effectLst/>
                <a:latin typeface="Google Sans Mono"/>
                <a:hlinkClick r:id="rId5"/>
              </a:rPr>
              <a:t>gemini-2.5-flash-lite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 and its preview versions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F24EEB-1FF6-CEEC-7748-A19462FB7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853" y="3429000"/>
            <a:ext cx="7651101" cy="2769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"/>
              </a:rPr>
              <a:t>Rate limits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The File Search API has the following limits to enforce service stability: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Maximum file size / per document limit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: 100 MB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Total size of project File Search stores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 (based on user tier):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Free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: 1 GB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Tier 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: 10 GB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Tier 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: 100 GB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Tier 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: 1 TB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618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45A6AE1F-8CFC-6444-DB57-FCF07CAF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121" y="1398382"/>
            <a:ext cx="9759821" cy="30162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Google Sans"/>
              </a:rPr>
              <a:t>Pricing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Developers are charged for embeddings at indexing time based on existing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A73E8"/>
                </a:solidFill>
                <a:effectLst/>
                <a:latin typeface="Google Sans Text"/>
                <a:hlinkClick r:id="rId2"/>
              </a:rPr>
              <a:t>embeddings pricing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 ($0.15 per 1M tokens).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02124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Storage is free of charge.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Query time embeddings are free of charge.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Retrieved document tokens are charged as regular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A73E8"/>
                </a:solidFill>
                <a:effectLst/>
                <a:latin typeface="Google Sans Text"/>
                <a:hlinkClick r:id="rId3"/>
              </a:rPr>
              <a:t>context tokens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6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4FE702-0F14-AEED-88FF-BFF0590BDD66}"/>
              </a:ext>
            </a:extLst>
          </p:cNvPr>
          <p:cNvSpPr txBox="1"/>
          <p:nvPr/>
        </p:nvSpPr>
        <p:spPr>
          <a:xfrm>
            <a:off x="2397968" y="298579"/>
            <a:ext cx="65407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Don’t be confused — when we upload files through the Files API, we are actually providing the files for the Gemini File Search tools. All of this is handled by Google’s infrastructure.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second step is creating a File Search store, which works as a vector store.</a:t>
            </a:r>
            <a:br>
              <a:rPr lang="en-US" sz="2800" dirty="0"/>
            </a:br>
            <a:r>
              <a:rPr lang="en-US" sz="2800" dirty="0"/>
              <a:t>The third step is importing the uploaded files into the vector store, where indexing and chunking are performed automatically.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9830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B86A9-F0F0-D92C-1389-FDC9F1A90672}"/>
              </a:ext>
            </a:extLst>
          </p:cNvPr>
          <p:cNvSpPr/>
          <p:nvPr/>
        </p:nvSpPr>
        <p:spPr>
          <a:xfrm>
            <a:off x="1492898" y="1038808"/>
            <a:ext cx="1567543" cy="82109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FA8C0-1EE6-F240-F0A1-BAF4C0FFBAFC}"/>
              </a:ext>
            </a:extLst>
          </p:cNvPr>
          <p:cNvSpPr/>
          <p:nvPr/>
        </p:nvSpPr>
        <p:spPr>
          <a:xfrm>
            <a:off x="4659086" y="1104122"/>
            <a:ext cx="1567543" cy="82109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B24FE-8086-54F3-C8B7-5DBA67DA0FC4}"/>
              </a:ext>
            </a:extLst>
          </p:cNvPr>
          <p:cNvSpPr/>
          <p:nvPr/>
        </p:nvSpPr>
        <p:spPr>
          <a:xfrm>
            <a:off x="7825274" y="1104122"/>
            <a:ext cx="1567543" cy="82109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11C15-234C-4EA5-22CE-CE5A56C1CFC3}"/>
              </a:ext>
            </a:extLst>
          </p:cNvPr>
          <p:cNvSpPr/>
          <p:nvPr/>
        </p:nvSpPr>
        <p:spPr>
          <a:xfrm>
            <a:off x="4752391" y="2951584"/>
            <a:ext cx="1567543" cy="82109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9BAE97-98F2-2754-7C9E-4E285B918848}"/>
              </a:ext>
            </a:extLst>
          </p:cNvPr>
          <p:cNvSpPr/>
          <p:nvPr/>
        </p:nvSpPr>
        <p:spPr>
          <a:xfrm>
            <a:off x="1492898" y="3018453"/>
            <a:ext cx="1567543" cy="82109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1D757-9821-8E51-FC59-ACDDFACC0CFB}"/>
              </a:ext>
            </a:extLst>
          </p:cNvPr>
          <p:cNvSpPr/>
          <p:nvPr/>
        </p:nvSpPr>
        <p:spPr>
          <a:xfrm>
            <a:off x="7825274" y="2951584"/>
            <a:ext cx="1567543" cy="82109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9B723B-7C94-0482-A4F1-584696BC1442}"/>
              </a:ext>
            </a:extLst>
          </p:cNvPr>
          <p:cNvSpPr/>
          <p:nvPr/>
        </p:nvSpPr>
        <p:spPr>
          <a:xfrm>
            <a:off x="1412033" y="4998098"/>
            <a:ext cx="1567543" cy="82109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6B28D-7AD7-6930-E627-55B3B0C05623}"/>
              </a:ext>
            </a:extLst>
          </p:cNvPr>
          <p:cNvSpPr/>
          <p:nvPr/>
        </p:nvSpPr>
        <p:spPr>
          <a:xfrm>
            <a:off x="4752390" y="4932784"/>
            <a:ext cx="1567543" cy="82109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7A380-0035-E459-584B-729EF947E292}"/>
              </a:ext>
            </a:extLst>
          </p:cNvPr>
          <p:cNvSpPr/>
          <p:nvPr/>
        </p:nvSpPr>
        <p:spPr>
          <a:xfrm>
            <a:off x="7825274" y="4932784"/>
            <a:ext cx="1567543" cy="82109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D4B11-E4D3-982A-3E1D-D74F413A60EF}"/>
              </a:ext>
            </a:extLst>
          </p:cNvPr>
          <p:cNvSpPr txBox="1"/>
          <p:nvPr/>
        </p:nvSpPr>
        <p:spPr>
          <a:xfrm>
            <a:off x="1660849" y="1185579"/>
            <a:ext cx="131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Book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1B07E-D2C7-5ECF-0769-76851298AC5D}"/>
              </a:ext>
            </a:extLst>
          </p:cNvPr>
          <p:cNvSpPr txBox="1"/>
          <p:nvPr/>
        </p:nvSpPr>
        <p:spPr>
          <a:xfrm>
            <a:off x="4911012" y="1185578"/>
            <a:ext cx="1063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Science Book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05ED64-A302-CFF4-FB1E-4E255D7EAF63}"/>
              </a:ext>
            </a:extLst>
          </p:cNvPr>
          <p:cNvSpPr txBox="1"/>
          <p:nvPr/>
        </p:nvSpPr>
        <p:spPr>
          <a:xfrm>
            <a:off x="8055428" y="1185578"/>
            <a:ext cx="118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Story Book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347286-7F39-2FCD-B2E9-E886A52CF0E3}"/>
              </a:ext>
            </a:extLst>
          </p:cNvPr>
          <p:cNvSpPr txBox="1"/>
          <p:nvPr/>
        </p:nvSpPr>
        <p:spPr>
          <a:xfrm>
            <a:off x="1660849" y="3135677"/>
            <a:ext cx="1324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Business Store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DA5B0-9C37-D84D-EEC6-F381E3F9842F}"/>
              </a:ext>
            </a:extLst>
          </p:cNvPr>
          <p:cNvSpPr txBox="1"/>
          <p:nvPr/>
        </p:nvSpPr>
        <p:spPr>
          <a:xfrm>
            <a:off x="5041641" y="3038965"/>
            <a:ext cx="1184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Science Store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7F4560-D88C-919B-456F-71D847357EA8}"/>
              </a:ext>
            </a:extLst>
          </p:cNvPr>
          <p:cNvSpPr txBox="1"/>
          <p:nvPr/>
        </p:nvSpPr>
        <p:spPr>
          <a:xfrm>
            <a:off x="8170506" y="3057922"/>
            <a:ext cx="1107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Story Store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77194-FEBF-910F-7DDC-E45BB3B13B08}"/>
              </a:ext>
            </a:extLst>
          </p:cNvPr>
          <p:cNvSpPr txBox="1"/>
          <p:nvPr/>
        </p:nvSpPr>
        <p:spPr>
          <a:xfrm>
            <a:off x="1514668" y="5085479"/>
            <a:ext cx="156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business book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A3B9F-B128-156B-D3F2-A835D613EF83}"/>
              </a:ext>
            </a:extLst>
          </p:cNvPr>
          <p:cNvSpPr txBox="1"/>
          <p:nvPr/>
        </p:nvSpPr>
        <p:spPr>
          <a:xfrm>
            <a:off x="4752390" y="4998098"/>
            <a:ext cx="156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science book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4FF7B7-240B-852A-4F70-51BCDA36F765}"/>
              </a:ext>
            </a:extLst>
          </p:cNvPr>
          <p:cNvSpPr txBox="1"/>
          <p:nvPr/>
        </p:nvSpPr>
        <p:spPr>
          <a:xfrm>
            <a:off x="7968343" y="5085479"/>
            <a:ext cx="1424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Chat with story book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05C509-9B40-DC2C-1BC2-5D4925CFEF37}"/>
              </a:ext>
            </a:extLst>
          </p:cNvPr>
          <p:cNvCxnSpPr/>
          <p:nvPr/>
        </p:nvCxnSpPr>
        <p:spPr>
          <a:xfrm>
            <a:off x="2192694" y="1859902"/>
            <a:ext cx="0" cy="1198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F3F4A5-AA6F-1175-1E23-383B5EC43DDF}"/>
              </a:ext>
            </a:extLst>
          </p:cNvPr>
          <p:cNvCxnSpPr>
            <a:endCxn id="9" idx="0"/>
          </p:cNvCxnSpPr>
          <p:nvPr/>
        </p:nvCxnSpPr>
        <p:spPr>
          <a:xfrm>
            <a:off x="2192694" y="3839547"/>
            <a:ext cx="3111" cy="1158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790CF7-41D9-CC0D-DD26-73F0E21E322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609046" y="1925216"/>
            <a:ext cx="0" cy="1026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6F2EA2F-321F-BE94-2A65-6E1A6A8A92F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442858" y="1925216"/>
            <a:ext cx="3110" cy="1026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17602E9-9FB9-3D64-7EDF-B0B19206848C}"/>
              </a:ext>
            </a:extLst>
          </p:cNvPr>
          <p:cNvCxnSpPr>
            <a:cxnSpLocks/>
          </p:cNvCxnSpPr>
          <p:nvPr/>
        </p:nvCxnSpPr>
        <p:spPr>
          <a:xfrm flipH="1">
            <a:off x="8593494" y="3782008"/>
            <a:ext cx="15551" cy="1187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385CEC-B073-A62C-AE35-FB02DD609B58}"/>
              </a:ext>
            </a:extLst>
          </p:cNvPr>
          <p:cNvCxnSpPr/>
          <p:nvPr/>
        </p:nvCxnSpPr>
        <p:spPr>
          <a:xfrm>
            <a:off x="5441302" y="3772677"/>
            <a:ext cx="3111" cy="1158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68A169F-E602-1426-96E6-723F3F288A15}"/>
              </a:ext>
            </a:extLst>
          </p:cNvPr>
          <p:cNvSpPr/>
          <p:nvPr/>
        </p:nvSpPr>
        <p:spPr>
          <a:xfrm>
            <a:off x="10045959" y="2836506"/>
            <a:ext cx="1810141" cy="1026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B92898-E44D-A90B-49FC-0DF22160153B}"/>
              </a:ext>
            </a:extLst>
          </p:cNvPr>
          <p:cNvSpPr txBox="1"/>
          <p:nvPr/>
        </p:nvSpPr>
        <p:spPr>
          <a:xfrm>
            <a:off x="10314991" y="3018453"/>
            <a:ext cx="1505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Chat with all stores</a:t>
            </a:r>
          </a:p>
          <a:p>
            <a:endParaRPr lang="en-US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AD45D6C-C058-CC31-F836-C4886F459C58}"/>
              </a:ext>
            </a:extLst>
          </p:cNvPr>
          <p:cNvCxnSpPr/>
          <p:nvPr/>
        </p:nvCxnSpPr>
        <p:spPr>
          <a:xfrm>
            <a:off x="2855167" y="3839547"/>
            <a:ext cx="0" cy="23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c 38">
            <a:extLst>
              <a:ext uri="{FF2B5EF4-FFF2-40B4-BE49-F238E27FC236}">
                <a16:creationId xmlns:a16="http://schemas.microsoft.com/office/drawing/2014/main" id="{FA777BCD-64C5-830F-46AA-CE4D13701FC3}"/>
              </a:ext>
            </a:extLst>
          </p:cNvPr>
          <p:cNvSpPr/>
          <p:nvPr/>
        </p:nvSpPr>
        <p:spPr>
          <a:xfrm>
            <a:off x="2855167" y="3941783"/>
            <a:ext cx="102636" cy="4571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A0B6095-E125-E543-7DFA-7C7CB1E322A5}"/>
              </a:ext>
            </a:extLst>
          </p:cNvPr>
          <p:cNvCxnSpPr/>
          <p:nvPr/>
        </p:nvCxnSpPr>
        <p:spPr>
          <a:xfrm>
            <a:off x="6316824" y="3573624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6473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3485</TotalTime>
  <Words>294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Google Sans</vt:lpstr>
      <vt:lpstr>Google Sans Mono</vt:lpstr>
      <vt:lpstr>Google Sans Text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Gesture-Speak: Transforming Signs into Voice</dc:title>
  <dc:creator>I'M Adarsha</dc:creator>
  <cp:lastModifiedBy>Ananda Rimal</cp:lastModifiedBy>
  <cp:revision>87</cp:revision>
  <dcterms:created xsi:type="dcterms:W3CDTF">2024-12-09T15:40:00Z</dcterms:created>
  <dcterms:modified xsi:type="dcterms:W3CDTF">2025-12-05T18:25:55Z</dcterms:modified>
</cp:coreProperties>
</file>